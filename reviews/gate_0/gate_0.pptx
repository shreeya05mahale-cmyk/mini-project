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7" r:id="rId7"/>
    <p:sldId id="265" r:id="rId8"/>
    <p:sldId id="268" r:id="rId9"/>
    <p:sldId id="266" r:id="rId10"/>
    <p:sldId id="26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l V Gurlahosur" userId="9f12a21dc62ccca4" providerId="LiveId" clId="{54877E30-A67F-40B7-977D-ED9EFFA2848D}"/>
    <pc:docChg chg="custSel addSld delSld modSld">
      <pc:chgData name="Sunil V Gurlahosur" userId="9f12a21dc62ccca4" providerId="LiveId" clId="{54877E30-A67F-40B7-977D-ED9EFFA2848D}" dt="2026-09-11T09:03:35.525" v="145"/>
      <pc:docMkLst>
        <pc:docMk/>
      </pc:docMkLst>
      <pc:sldChg chg="addSp delSp modSp new mod">
        <pc:chgData name="Sunil V Gurlahosur" userId="9f12a21dc62ccca4" providerId="LiveId" clId="{54877E30-A67F-40B7-977D-ED9EFFA2848D}" dt="2026-09-11T09:03:35.525" v="145"/>
        <pc:sldMkLst>
          <pc:docMk/>
          <pc:sldMk cId="2499379513" sldId="256"/>
        </pc:sldMkLst>
        <pc:spChg chg="add mod">
          <ac:chgData name="Sunil V Gurlahosur" userId="9f12a21dc62ccca4" providerId="LiveId" clId="{54877E30-A67F-40B7-977D-ED9EFFA2848D}" dt="2026-09-11T09:01:03.052" v="64" actId="1076"/>
          <ac:spMkLst>
            <pc:docMk/>
            <pc:sldMk cId="2499379513" sldId="256"/>
            <ac:spMk id="2" creationId="{A1D9847B-EC4A-A55B-9CEE-F9E7B662927C}"/>
          </ac:spMkLst>
        </pc:spChg>
        <pc:spChg chg="add del mod">
          <ac:chgData name="Sunil V Gurlahosur" userId="9f12a21dc62ccca4" providerId="LiveId" clId="{54877E30-A67F-40B7-977D-ED9EFFA2848D}" dt="2026-09-11T09:00:59.794" v="63" actId="478"/>
          <ac:spMkLst>
            <pc:docMk/>
            <pc:sldMk cId="2499379513" sldId="256"/>
            <ac:spMk id="5" creationId="{16384E9A-42C5-4DE9-2D25-46E60E40F809}"/>
          </ac:spMkLst>
        </pc:spChg>
        <pc:picChg chg="add del mod">
          <ac:chgData name="Sunil V Gurlahosur" userId="9f12a21dc62ccca4" providerId="LiveId" clId="{54877E30-A67F-40B7-977D-ED9EFFA2848D}" dt="2026-09-11T09:02:23.641" v="100" actId="478"/>
          <ac:picMkLst>
            <pc:docMk/>
            <pc:sldMk cId="2499379513" sldId="256"/>
            <ac:picMk id="4" creationId="{C274DFD8-DED3-DD7A-2739-480620D87862}"/>
          </ac:picMkLst>
        </pc:picChg>
        <pc:picChg chg="add del mod">
          <ac:chgData name="Sunil V Gurlahosur" userId="9f12a21dc62ccca4" providerId="LiveId" clId="{54877E30-A67F-40B7-977D-ED9EFFA2848D}" dt="2026-09-11T09:03:34.532" v="144" actId="478"/>
          <ac:picMkLst>
            <pc:docMk/>
            <pc:sldMk cId="2499379513" sldId="256"/>
            <ac:picMk id="6" creationId="{F0944351-E737-9BD7-07ED-B2595E3F1319}"/>
          </ac:picMkLst>
        </pc:picChg>
        <pc:picChg chg="add mod">
          <ac:chgData name="Sunil V Gurlahosur" userId="9f12a21dc62ccca4" providerId="LiveId" clId="{54877E30-A67F-40B7-977D-ED9EFFA2848D}" dt="2026-09-11T09:03:35.525" v="145"/>
          <ac:picMkLst>
            <pc:docMk/>
            <pc:sldMk cId="2499379513" sldId="256"/>
            <ac:picMk id="7" creationId="{0D74FFEC-6BC9-DCD6-689B-696B333D8215}"/>
          </ac:picMkLst>
        </pc:picChg>
      </pc:sldChg>
      <pc:sldChg chg="new del">
        <pc:chgData name="Sunil V Gurlahosur" userId="9f12a21dc62ccca4" providerId="LiveId" clId="{54877E30-A67F-40B7-977D-ED9EFFA2848D}" dt="2026-09-11T09:01:21.861" v="65" actId="47"/>
        <pc:sldMkLst>
          <pc:docMk/>
          <pc:sldMk cId="1419842772" sldId="257"/>
        </pc:sldMkLst>
      </pc:sldChg>
      <pc:sldChg chg="addSp delSp modSp new mod">
        <pc:chgData name="Sunil V Gurlahosur" userId="9f12a21dc62ccca4" providerId="LiveId" clId="{54877E30-A67F-40B7-977D-ED9EFFA2848D}" dt="2026-09-11T09:03:20.855" v="143" actId="404"/>
        <pc:sldMkLst>
          <pc:docMk/>
          <pc:sldMk cId="4065158548" sldId="257"/>
        </pc:sldMkLst>
        <pc:spChg chg="add mod">
          <ac:chgData name="Sunil V Gurlahosur" userId="9f12a21dc62ccca4" providerId="LiveId" clId="{54877E30-A67F-40B7-977D-ED9EFFA2848D}" dt="2026-09-11T09:03:20.855" v="143" actId="404"/>
          <ac:spMkLst>
            <pc:docMk/>
            <pc:sldMk cId="4065158548" sldId="257"/>
            <ac:spMk id="2" creationId="{863AA098-6692-79F0-2416-72103F0948F9}"/>
          </ac:spMkLst>
        </pc:spChg>
        <pc:spChg chg="add mod">
          <ac:chgData name="Sunil V Gurlahosur" userId="9f12a21dc62ccca4" providerId="LiveId" clId="{54877E30-A67F-40B7-977D-ED9EFFA2848D}" dt="2026-09-11T09:01:25.639" v="67"/>
          <ac:spMkLst>
            <pc:docMk/>
            <pc:sldMk cId="4065158548" sldId="257"/>
            <ac:spMk id="3" creationId="{EFC3D171-BF2D-DED3-D9A0-75AD0071CAEA}"/>
          </ac:spMkLst>
        </pc:spChg>
        <pc:spChg chg="add mod">
          <ac:chgData name="Sunil V Gurlahosur" userId="9f12a21dc62ccca4" providerId="LiveId" clId="{54877E30-A67F-40B7-977D-ED9EFFA2848D}" dt="2026-09-11T09:01:25.639" v="67"/>
          <ac:spMkLst>
            <pc:docMk/>
            <pc:sldMk cId="4065158548" sldId="257"/>
            <ac:spMk id="4" creationId="{CC9C4D2B-F86B-7F37-4F02-AB0DF341BAC3}"/>
          </ac:spMkLst>
        </pc:spChg>
        <pc:spChg chg="add mod">
          <ac:chgData name="Sunil V Gurlahosur" userId="9f12a21dc62ccca4" providerId="LiveId" clId="{54877E30-A67F-40B7-977D-ED9EFFA2848D}" dt="2026-09-11T09:02:43.014" v="120" actId="6549"/>
          <ac:spMkLst>
            <pc:docMk/>
            <pc:sldMk cId="4065158548" sldId="257"/>
            <ac:spMk id="5" creationId="{6D28A002-B999-C48F-6D62-FC0DAFDDF99B}"/>
          </ac:spMkLst>
        </pc:spChg>
        <pc:spChg chg="add mod">
          <ac:chgData name="Sunil V Gurlahosur" userId="9f12a21dc62ccca4" providerId="LiveId" clId="{54877E30-A67F-40B7-977D-ED9EFFA2848D}" dt="2026-09-11T09:01:25.639" v="67"/>
          <ac:spMkLst>
            <pc:docMk/>
            <pc:sldMk cId="4065158548" sldId="257"/>
            <ac:spMk id="6" creationId="{808E8238-AD79-D705-B3AC-37D89006C022}"/>
          </ac:spMkLst>
        </pc:spChg>
        <pc:spChg chg="add mod">
          <ac:chgData name="Sunil V Gurlahosur" userId="9f12a21dc62ccca4" providerId="LiveId" clId="{54877E30-A67F-40B7-977D-ED9EFFA2848D}" dt="2026-09-11T09:03:03.142" v="142" actId="1035"/>
          <ac:spMkLst>
            <pc:docMk/>
            <pc:sldMk cId="4065158548" sldId="257"/>
            <ac:spMk id="8" creationId="{3C5DD3BF-FD60-5769-3D7A-62E168A5F306}"/>
          </ac:spMkLst>
        </pc:spChg>
        <pc:picChg chg="add del mod">
          <ac:chgData name="Sunil V Gurlahosur" userId="9f12a21dc62ccca4" providerId="LiveId" clId="{54877E30-A67F-40B7-977D-ED9EFFA2848D}" dt="2026-09-11T09:01:34.064" v="68" actId="478"/>
          <ac:picMkLst>
            <pc:docMk/>
            <pc:sldMk cId="4065158548" sldId="257"/>
            <ac:picMk id="7" creationId="{DFEB974F-7932-1EA8-B9F5-E93180C5D0CF}"/>
          </ac:picMkLst>
        </pc:picChg>
        <pc:picChg chg="add del mod">
          <ac:chgData name="Sunil V Gurlahosur" userId="9f12a21dc62ccca4" providerId="LiveId" clId="{54877E30-A67F-40B7-977D-ED9EFFA2848D}" dt="2026-09-11T09:02:11.852" v="97" actId="478"/>
          <ac:picMkLst>
            <pc:docMk/>
            <pc:sldMk cId="4065158548" sldId="257"/>
            <ac:picMk id="9" creationId="{63EA56A0-5F0D-B1A3-648E-61E994A75DE7}"/>
          </ac:picMkLst>
        </pc:picChg>
        <pc:picChg chg="add mod">
          <ac:chgData name="Sunil V Gurlahosur" userId="9f12a21dc62ccca4" providerId="LiveId" clId="{54877E30-A67F-40B7-977D-ED9EFFA2848D}" dt="2026-09-11T09:02:18.885" v="99" actId="1076"/>
          <ac:picMkLst>
            <pc:docMk/>
            <pc:sldMk cId="4065158548" sldId="257"/>
            <ac:picMk id="10" creationId="{AFD6D9E3-5B28-BE3E-9F28-7ED582C3E7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2470-6F69-47CD-152C-9CED0EFFA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CD0D7-3C44-AC10-02BE-CB274F89D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A837-E105-0470-D3D4-7B06925E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8978-0DC7-9F3D-6025-3E1AF42C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EF88-A03D-A1EB-AC56-C4BE7B4A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47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CE78-6EFE-AC5C-B82A-1B286C37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3848-645C-865F-BE58-FA53E0689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A828-FB57-68E1-8844-FCCB403E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5CB2-130D-1659-7A8B-8200D59D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1222-8E8F-1903-1312-C2745BED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7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E5EA-C028-77CA-3FCD-96995BCF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73E4-1A74-B29F-B8BE-B2FFEC9B5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D62E0-9E6D-53CE-02BC-07B0B663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02C8-FC31-5CFC-8841-9F40CCA2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5108-C9D4-9F39-DCF1-A9B06F6A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5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E6CD-5DD7-377D-BE7F-A878101C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AF46-3840-72F8-D3B6-301DE7127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57776-0294-D731-6100-D3F99A2E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BB42E-93EE-4D76-6F3C-1CA96233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F9B02-381F-3167-4568-96663475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B7996-3952-F361-930F-6E0D6CF4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5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BAF2-04AE-42EC-9A75-F389EB99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3558A-59FC-54A7-3BD7-007CECB8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9140-B5DF-3728-9736-DC2539992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63CDE-D069-0A82-B568-865AF8EDE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DE959-4F62-DB66-0CC8-589104C3C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D5546-7030-2403-A4A4-DD717706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3DD0E-D220-5D1A-3592-95AC18EB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7A302-58EA-5D35-705F-7CC51681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1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CE4F-8BBC-1370-9F19-E731A3FA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E6106-7E21-AFDC-80A6-3321869B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DAB3-1ACE-7493-B84D-E9AB4028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3676E-E045-A7AB-48E9-6C113045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6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64190-C29E-BAE1-F6F0-98B2737F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BB8E3-6FC7-1D44-7464-0DF1F039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9EFE7-964B-3D4F-DA2E-04D9F85E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3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116A-8A25-8D13-9BC9-47216E01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F3CAA-463F-641E-79E9-AD006D9C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E91CA-0048-C2D2-2F35-73174E748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EDBC2-7C54-5FE5-6F5B-EAB118BF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ED667-7357-AC2A-F80C-BBAF3B86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DC4F2-90BB-95A1-F649-A289CE65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4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096C-6E69-81A3-84B4-2E623A63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AAC60-86EA-658D-D32D-5BE527912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0B0FB-3B39-9317-01CF-1D48E0B6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6A11-2396-2AF5-2161-D9F0B7BF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BA76-D44D-2CDB-F3D4-827B7F97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9F546-44B0-5305-C79F-4BEC7205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9CAE-B548-717C-5386-C6D682D5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F9182-15AB-DA4E-6D3D-02CDF03D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0C6C-45C0-38F1-CC32-055B00AB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18FBA-31C8-EBAE-27CB-B1365956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5BD0-0C30-1962-C11E-EABD045F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1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EA9D9-58AF-5F97-A6FB-E26C1826D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52EDE-7AC1-2CAC-E2F3-C44AA4FD5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77B4-98F9-FF44-BAFF-E83E646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AFD3-CC99-B583-8AC1-9664594F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D4B74-C40E-8036-5DD5-0648D69D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5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23724-DA81-B1CD-6C3A-3511EF91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6990B-7AA8-316C-CAB1-9A5EAA3E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1B12-069C-9C93-6828-F3B2835ED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51546-1686-4C0B-B9BE-3163B404F5B4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8572-882D-FB2A-CDCF-DCC280EA4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AD2AA-64CD-E80A-E379-A1B5E652C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6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847B-EC4A-A55B-9CEE-F9E7B662927C}"/>
              </a:ext>
            </a:extLst>
          </p:cNvPr>
          <p:cNvSpPr txBox="1">
            <a:spLocks/>
          </p:cNvSpPr>
          <p:nvPr/>
        </p:nvSpPr>
        <p:spPr>
          <a:xfrm>
            <a:off x="1267848" y="1267593"/>
            <a:ext cx="9144000" cy="10191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asset issue and return management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4FFEC-6BC9-DCD6-689B-696B333D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graphicFrame>
        <p:nvGraphicFramePr>
          <p:cNvPr id="6" name="Google Shape;57;p13">
            <a:extLst>
              <a:ext uri="{FF2B5EF4-FFF2-40B4-BE49-F238E27FC236}">
                <a16:creationId xmlns:a16="http://schemas.microsoft.com/office/drawing/2014/main" id="{9C68FCA3-0720-291A-BACD-9CD451D385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85552"/>
              </p:ext>
            </p:extLst>
          </p:nvPr>
        </p:nvGraphicFramePr>
        <p:xfrm>
          <a:off x="2369286" y="2891356"/>
          <a:ext cx="71409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S.No.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Madhuram Garg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349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01fe24bcs225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Shreeya Mahale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352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01fe24bcs228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B.S Shanvi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302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01fe24bcs0</a:t>
                      </a:r>
                      <a:endParaRPr sz="1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Rutu Kubasad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01fe24bcs238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2A70CE-51AA-E0F1-00FC-DC7576BA12DC}"/>
              </a:ext>
            </a:extLst>
          </p:cNvPr>
          <p:cNvSpPr txBox="1"/>
          <p:nvPr/>
        </p:nvSpPr>
        <p:spPr>
          <a:xfrm>
            <a:off x="3863051" y="5213188"/>
            <a:ext cx="3953593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dirty="0">
                <a:solidFill>
                  <a:srgbClr val="18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r>
              <a:rPr lang="en-US" sz="1750" b="1" dirty="0">
                <a:solidFill>
                  <a:srgbClr val="18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750" b="1" dirty="0">
                <a:latin typeface="Times New Roman"/>
                <a:ea typeface="Times New Roman"/>
                <a:cs typeface="Times New Roman"/>
                <a:sym typeface="Times New Roman"/>
              </a:rPr>
              <a:t>Manjula Pawar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9D67C-5945-D7DA-EF2B-C82385B40FC5}"/>
              </a:ext>
            </a:extLst>
          </p:cNvPr>
          <p:cNvSpPr txBox="1"/>
          <p:nvPr/>
        </p:nvSpPr>
        <p:spPr>
          <a:xfrm>
            <a:off x="4906297" y="5723044"/>
            <a:ext cx="6096000" cy="68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dirty="0">
                <a:solidFill>
                  <a:srgbClr val="18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no.: 9 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dirty="0">
                <a:solidFill>
                  <a:srgbClr val="18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no.: 4</a:t>
            </a:r>
          </a:p>
        </p:txBody>
      </p:sp>
    </p:spTree>
    <p:extLst>
      <p:ext uri="{BB962C8B-B14F-4D97-AF65-F5344CB8AC3E}">
        <p14:creationId xmlns:p14="http://schemas.microsoft.com/office/powerpoint/2010/main" val="24993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A098-6692-79F0-2416-72103F0948F9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courses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3D171-BF2D-DED3-D9A0-75AD0071CAEA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C4D2B-F86B-7F37-4F02-AB0DF341BAC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2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D6D9E3-5B28-BE3E-9F28-7ED582C3E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1A3643-3F14-50D5-9B65-55270B58A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893368"/>
              </p:ext>
            </p:extLst>
          </p:nvPr>
        </p:nvGraphicFramePr>
        <p:xfrm>
          <a:off x="1455174" y="1107281"/>
          <a:ext cx="9143999" cy="48621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111">
                  <a:extLst>
                    <a:ext uri="{9D8B030D-6E8A-4147-A177-3AD203B41FA5}">
                      <a16:colId xmlns:a16="http://schemas.microsoft.com/office/drawing/2014/main" val="1348080952"/>
                    </a:ext>
                  </a:extLst>
                </a:gridCol>
                <a:gridCol w="2916499">
                  <a:extLst>
                    <a:ext uri="{9D8B030D-6E8A-4147-A177-3AD203B41FA5}">
                      <a16:colId xmlns:a16="http://schemas.microsoft.com/office/drawing/2014/main" val="1872186299"/>
                    </a:ext>
                  </a:extLst>
                </a:gridCol>
                <a:gridCol w="5579389">
                  <a:extLst>
                    <a:ext uri="{9D8B030D-6E8A-4147-A177-3AD203B41FA5}">
                      <a16:colId xmlns:a16="http://schemas.microsoft.com/office/drawing/2014/main" val="2375184035"/>
                    </a:ext>
                  </a:extLst>
                </a:gridCol>
              </a:tblGrid>
              <a:tr h="581795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 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Concepts 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085481"/>
                  </a:ext>
                </a:extLst>
              </a:tr>
              <a:tr h="912360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Management System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ACID Properties, Concurrency Control &amp; Row Locking, Relational Schema &amp; Constraints, Triggers &amp; Audit Logging.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716369"/>
                  </a:ext>
                </a:extLst>
              </a:tr>
              <a:tr h="66113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 Technology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RESTful API Design, State Management, Asynchronous Programming, Form Validation &amp; UI/UX.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102253"/>
                  </a:ext>
                </a:extLst>
              </a:tr>
              <a:tr h="66113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Engineering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Machine Pattern, Role-Based Access Control (RBAC), Architectural Patterns.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29740"/>
                  </a:ext>
                </a:extLst>
              </a:tr>
              <a:tr h="40990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Systems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Synchronization Primitives, Scheduling Algorithms.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316574"/>
                  </a:ext>
                </a:extLst>
              </a:tr>
              <a:tr h="661131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Networks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RESTful API Design &amp; Server-Side Validation, Authentication &amp; Session Management.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72869"/>
                  </a:ext>
                </a:extLst>
              </a:tr>
              <a:tr h="912360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 and Algorithms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Queues for FIFO reservation management, searching and sorting for efficient book retrieval and transaction processing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2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15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F906-261C-ECB2-58C0-7DE6E22D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6982-9468-C5FF-815D-EDC8BF646DD2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78825-A1F2-5D05-7C5A-631CF5EC81C2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8DAE7-645C-8C05-22FD-1A82F1E517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866A1-7765-4E22-1FB6-C5B53DD5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B1F7D-1719-4066-FD05-B2DCF494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3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D823D5C3-2BAF-0AA9-412A-920D3FE5812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EAB158-5B61-BFFF-FFB1-3A90E14A3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D3B5AA-9141-83C8-49A4-1F924C4E0C13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93E01D-C15E-2179-9EB5-4CF7772A4A55}"/>
              </a:ext>
            </a:extLst>
          </p:cNvPr>
          <p:cNvSpPr txBox="1"/>
          <p:nvPr/>
        </p:nvSpPr>
        <p:spPr>
          <a:xfrm>
            <a:off x="461400" y="771525"/>
            <a:ext cx="10392696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lacks a bounded, reliable process for maintaining consistent book availability, reservation order, issue/return records and transaction history, which can result in inaccurate or difficult-to-trace asset status. 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7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2656-BF5A-3D07-166C-106F2A9E3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3F00-54D6-5C7E-3792-A97D4DEFC64B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690E-7854-7ACB-3BC8-C05233EB321A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9FD53-513D-3C61-4602-D4D34984C0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7C726-1A6A-079A-4F64-93A29A3A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76977-6C77-53F1-1FA8-4724501C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4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72BB2C43-00AB-7B61-EB88-00BEEF733AFA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3DC8C8-998E-A9A6-C366-8A64986C6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9CB3C-9E5B-A8ED-9034-EF83E7E62B1C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BFD54-2AB4-656E-7C7B-DE0608FAEDA4}"/>
              </a:ext>
            </a:extLst>
          </p:cNvPr>
          <p:cNvSpPr txBox="1"/>
          <p:nvPr/>
        </p:nvSpPr>
        <p:spPr>
          <a:xfrm>
            <a:off x="338496" y="1225453"/>
            <a:ext cx="10392696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Maintain a unique record and current availability status for each library book. 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Record book issue and return transactions with borrower and timestamp details. 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Handle unavailable-book reservations in FIFO order. 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Prevent an unavailable book from being issued through conflicting concurrent transactions. 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Maintain an auditable transaction history for issue, return and reservation activities.</a:t>
            </a:r>
          </a:p>
        </p:txBody>
      </p:sp>
    </p:spTree>
    <p:extLst>
      <p:ext uri="{BB962C8B-B14F-4D97-AF65-F5344CB8AC3E}">
        <p14:creationId xmlns:p14="http://schemas.microsoft.com/office/powerpoint/2010/main" val="109827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0D80B-515F-ED78-3BD3-81403310C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3396-94FB-E4D5-1ED0-384641E777A3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238F3-FFEB-CB69-B828-5259BE7010C8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847DD-BD70-68CA-12DD-87000D232D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E850B-BFDE-A945-5376-238474BF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B1492-E544-8A60-CF56-2AE0DF5E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5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4BB5F0DB-0645-8A32-2493-1992F296B56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451B16-FBAA-44BE-68A9-C93E025E6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5B19A1-F2DA-1C60-83A7-93B427587FC7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AF394-B5BC-A33F-600F-6B35E6124D61}"/>
              </a:ext>
            </a:extLst>
          </p:cNvPr>
          <p:cNvSpPr txBox="1"/>
          <p:nvPr/>
        </p:nvSpPr>
        <p:spPr>
          <a:xfrm>
            <a:off x="503238" y="917576"/>
            <a:ext cx="1063671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authenticate user credentials and manage active sessions based on assigned roles (Borrower, Librarian, Administrator).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enforce role-based access control to restrict available features and data views for each user role.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register book metadata and assign unique copy identifiers for inventory tracking.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maintain real-time status for each book copy as Available, Issued, Reserved, or Maintenance.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verify book availability and borrower eligibility before authorizing any issue transaction.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record checkout transactions containing copy ID, borrower ID, issue timestamp, and calculated due date.</a:t>
            </a:r>
          </a:p>
        </p:txBody>
      </p:sp>
    </p:spTree>
    <p:extLst>
      <p:ext uri="{BB962C8B-B14F-4D97-AF65-F5344CB8AC3E}">
        <p14:creationId xmlns:p14="http://schemas.microsoft.com/office/powerpoint/2010/main" val="115794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E855-578A-1663-5A1A-85C87672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0E2F-8656-BC3A-A05A-3220C687884E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8F1F8-3F62-46B5-8931-61EDC57588CE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32F50-5D17-5D06-98FF-EC2D0BBD90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125FF-0514-8AF8-1C17-4470F65D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C6B5-EB80-50D2-339C-4625D8EF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6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CD696F45-A240-B03C-F8DE-A6FE45ADF0F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F6D58A-3E86-A71A-AB86-51C8CEF58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7FB6EE-3686-18BB-619F-9B81265FDA3B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36D3B-6FE0-FB80-7F8B-5738470D179B}"/>
              </a:ext>
            </a:extLst>
          </p:cNvPr>
          <p:cNvSpPr txBox="1"/>
          <p:nvPr/>
        </p:nvSpPr>
        <p:spPr>
          <a:xfrm>
            <a:off x="274120" y="954306"/>
            <a:ext cx="10644352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record book returns with timestamps and update copy availability accordingly.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calculate overdue fines automatically based on days past the due date and institutional fine rates.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place borrowers into a First-In-First-Out (FIFO) reservation queue when no copies are available.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assign a returned reserved book to the top user in the FIFO queue and apply a temporary hold window.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maintain an immutable, append-only audit trail logging all issue, return, and reservation events.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generate searchable and filterable views for book availability, active issues, overdue, and transaction history.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3987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7D52-FA76-6215-2759-8AD1615A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4035-C1DD-D27A-2127-D62F1EDF52A5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A984-F9BF-4AA5-2576-F999B559B99E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6A508-7E03-E3C5-CC6D-CF62868113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0032B-005D-9D8A-CDF3-67C53665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534A-E823-8259-1C95-FE6FF94A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7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F8DB0B05-B645-EAD0-134C-8F16A0EEB88E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311BE8-A667-BEB6-290D-4FC43401A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6CD735-3C30-3210-774C-8AD5282B6895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8E4C2-769D-D35A-D588-A7EB3C7005EB}"/>
              </a:ext>
            </a:extLst>
          </p:cNvPr>
          <p:cNvSpPr txBox="1"/>
          <p:nvPr/>
        </p:nvSpPr>
        <p:spPr>
          <a:xfrm>
            <a:off x="503238" y="917576"/>
            <a:ext cx="1063671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enforce ACID compliance and row-level locking during issue and return transactions to prevent race conditions and duplicate checkouts.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complete availability lookups and transaction commitments within 500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a typical load of up to 50 concurrent requests.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hash user passwords using standard salting algorithms and validate all incoming inputs server-side to prevent injection vulnerabilities.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maintain an append-only audit log with restricted write-only permissions that prevent modification or deletion by operational users.</a:t>
            </a:r>
          </a:p>
        </p:txBody>
      </p:sp>
    </p:spTree>
    <p:extLst>
      <p:ext uri="{BB962C8B-B14F-4D97-AF65-F5344CB8AC3E}">
        <p14:creationId xmlns:p14="http://schemas.microsoft.com/office/powerpoint/2010/main" val="306398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DDA4A-3D4D-0183-5A18-A5705811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3C21-32BD-2D96-5D96-6B8D62066913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98234-9E73-A8DD-AF45-A5920CD69E99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F6069-73BC-C8E3-F4B9-5762AE7259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A6419-DD80-EBBB-15AB-4B24E850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250B4-C11A-694A-0491-DC0E4AD2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8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42B3D291-0889-6CFE-FFB9-89A231DD508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F87500-6095-38D7-8205-73B1CDBDC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B5C69-3200-C40F-7001-1763382ACBA5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19AD7-E7B5-41FA-B116-C91453A05007}"/>
              </a:ext>
            </a:extLst>
          </p:cNvPr>
          <p:cNvSpPr txBox="1"/>
          <p:nvPr/>
        </p:nvSpPr>
        <p:spPr>
          <a:xfrm>
            <a:off x="503238" y="917576"/>
            <a:ext cx="1063671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allow circulation desk checkout and check-in workflows to be completed in three user interactions or fewer to minimize counter wait times.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decouple the user interface from business logic and database persistence using a modular RESTful API architecture.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automatically roll back incomplete or interrupted transactions to prevent orphan records and retain data consistency.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support catalog datasets of at least 10,000 book records and 2,000 user profiles without noticeable latency degradation.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08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AED6-7109-0C9E-D61C-701B8241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3ECC-DC3E-8BFB-25FA-73835BCD8F0E}"/>
              </a:ext>
            </a:extLst>
          </p:cNvPr>
          <p:cNvSpPr txBox="1">
            <a:spLocks/>
          </p:cNvSpPr>
          <p:nvPr/>
        </p:nvSpPr>
        <p:spPr>
          <a:xfrm>
            <a:off x="289386" y="87907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FRs to engines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D6DC-59BA-AE29-F2DE-7A25F111CF89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57020-53FC-3959-E8A5-1C1CB43ED2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B8AB7-FCC9-11BA-F16C-63F92CB0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3341-ED09-C97C-01F8-5EBABB04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9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E05ABEA0-5A26-7C4F-094E-9FBDE35A078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599ECB-9A8A-3B56-61AE-6AED93370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CF930C-3980-331E-181D-4CB5A45943B2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230A57-AD24-668A-16CC-F8FD99CB22F3}"/>
              </a:ext>
            </a:extLst>
          </p:cNvPr>
          <p:cNvSpPr txBox="1"/>
          <p:nvPr/>
        </p:nvSpPr>
        <p:spPr>
          <a:xfrm>
            <a:off x="503238" y="841287"/>
            <a:ext cx="10636710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FR1. Computer Networks, Web Technology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FR2. Software Engineering, Web Technology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FR3. Database Management System, Web Technology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FR4. Software Engineering, Database Management System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FR5. Operating Systems, Computer Networks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FR6. Database Management System, Operating Systems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FR7. Database Management System, Software Engineering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FR8.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Algorithms, Web Technology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FR9. Data Structures and Algorithms, Operating Systems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FR10. Data Structures and Algorithms, Software Engineering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FR11. Database Management System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FR12. Data Structures and Algorithms, Web Technology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24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F63E-92F2-048B-C7C0-EB6EFC56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0815-C1CC-0DB9-8A97-8017F9361944}"/>
              </a:ext>
            </a:extLst>
          </p:cNvPr>
          <p:cNvSpPr txBox="1">
            <a:spLocks/>
          </p:cNvSpPr>
          <p:nvPr/>
        </p:nvSpPr>
        <p:spPr>
          <a:xfrm>
            <a:off x="289386" y="87907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978E-DB08-A1D7-A299-3B22C3E12A59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A6CB-B9D3-80A8-75A0-2BC987EEA3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99407-9DFD-605B-E264-3C343046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1790A-6E6D-15ED-16B1-00035515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10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2FF953F8-DE9A-DF9C-B654-B460D7678F4C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03F0FF-9087-121F-2900-B4B0D0C0C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8E2539-A657-CA04-44D4-C82C18C8C008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862CB4-D657-2097-AAF6-2217BDD87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939" y="1392395"/>
            <a:ext cx="9669264" cy="367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9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B993-11FC-4C15-E999-DA185CA6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3070-F196-1715-1B86-F928B1A264AE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B5EC2-1048-3FA4-B3C4-1BDD3ED5B77A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CF62F-734E-1DD2-ABDE-B94A5BB8D0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4B83-0517-C69B-0F7E-A4EEAECB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6B06F-A9F0-D9BE-5F4B-F3105794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11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C80DDF64-26E0-15CC-E502-6608A3531DF3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F973B-FBA9-6ABA-0356-F06BD4CA8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40D32-ABCA-81C6-77BE-96BB3456AB9C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57F1D26-4ABF-D268-AA57-1631DE446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808171"/>
              </p:ext>
            </p:extLst>
          </p:nvPr>
        </p:nvGraphicFramePr>
        <p:xfrm>
          <a:off x="1769294" y="1107281"/>
          <a:ext cx="8750710" cy="51816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207">
                  <a:extLst>
                    <a:ext uri="{9D8B030D-6E8A-4147-A177-3AD203B41FA5}">
                      <a16:colId xmlns:a16="http://schemas.microsoft.com/office/drawing/2014/main" val="2234130335"/>
                    </a:ext>
                  </a:extLst>
                </a:gridCol>
                <a:gridCol w="1966452">
                  <a:extLst>
                    <a:ext uri="{9D8B030D-6E8A-4147-A177-3AD203B41FA5}">
                      <a16:colId xmlns:a16="http://schemas.microsoft.com/office/drawing/2014/main" val="2800974803"/>
                    </a:ext>
                  </a:extLst>
                </a:gridCol>
                <a:gridCol w="1966452">
                  <a:extLst>
                    <a:ext uri="{9D8B030D-6E8A-4147-A177-3AD203B41FA5}">
                      <a16:colId xmlns:a16="http://schemas.microsoft.com/office/drawing/2014/main" val="3725847458"/>
                    </a:ext>
                  </a:extLst>
                </a:gridCol>
                <a:gridCol w="1966452">
                  <a:extLst>
                    <a:ext uri="{9D8B030D-6E8A-4147-A177-3AD203B41FA5}">
                      <a16:colId xmlns:a16="http://schemas.microsoft.com/office/drawing/2014/main" val="1883937909"/>
                    </a:ext>
                  </a:extLst>
                </a:gridCol>
                <a:gridCol w="1264147">
                  <a:extLst>
                    <a:ext uri="{9D8B030D-6E8A-4147-A177-3AD203B41FA5}">
                      <a16:colId xmlns:a16="http://schemas.microsoft.com/office/drawing/2014/main" val="1533217735"/>
                    </a:ext>
                  </a:extLst>
                </a:gridCol>
              </a:tblGrid>
              <a:tr h="615323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Description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&amp; Expectations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Pain Points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Influence (H/M/L) </a:t>
                      </a:r>
                      <a:endParaRPr lang="en-IN" sz="16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8409"/>
                  </a:ext>
                </a:extLst>
              </a:tr>
              <a:tr h="1122060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users borrowing books </a:t>
                      </a:r>
                      <a:endParaRPr lang="en-IN" sz="16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search, live book availability, automated due-date alerts </a:t>
                      </a:r>
                    </a:p>
                    <a:p>
                      <a:pPr marL="0" marR="0" indent="0" algn="l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counter lines, untracked fines, surprise due dates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778437"/>
                  </a:ext>
                </a:extLst>
              </a:tr>
              <a:tr h="1122060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Librarians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book issue, return, and member records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record management, overdue tracking, automatic fine calculation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entries, checking paper records, calculating fines takes time </a:t>
                      </a:r>
                      <a:endParaRPr lang="en-IN" sz="16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810425"/>
                  </a:ext>
                </a:extLst>
              </a:tr>
              <a:tr h="615323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members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 books for teaching and research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access to books and borrowing history </a:t>
                      </a:r>
                      <a:endParaRPr lang="en-IN" sz="16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Delays in finding books and checking due dates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756172"/>
                  </a:ext>
                </a:extLst>
              </a:tr>
              <a:tr h="1122060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 staff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daily library operations and maintain records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system for managing books and transactions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Repetitive manual work and difficulty maintaining accurate records </a:t>
                      </a:r>
                      <a:endParaRPr lang="en-IN" sz="16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 </a:t>
                      </a:r>
                      <a:endParaRPr lang="en-IN" sz="16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692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92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A17A-AB5F-3C41-4424-85960545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A190-7F0D-AFE9-C5B7-6B3D57D8FF11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3E34D-CB66-5412-C7B2-13CB6F56D895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4FCE-7F3E-FCA1-5577-47B6634DD0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FFFC2-5726-F70B-8141-CBA1C009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BBD3-6B4D-7832-2B14-3DCEFBED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12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E6ECC58A-0EAD-29AE-C300-27DCC3386D68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CEA024-6646-1CB3-7688-8D1FD2704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D9A59F-F6AF-2202-84F1-DE9242887429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E3801D-E9D3-4D27-60C2-6E1FEBED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579189"/>
              </p:ext>
            </p:extLst>
          </p:nvPr>
        </p:nvGraphicFramePr>
        <p:xfrm>
          <a:off x="1543666" y="1332706"/>
          <a:ext cx="8652386" cy="4383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8860">
                  <a:extLst>
                    <a:ext uri="{9D8B030D-6E8A-4147-A177-3AD203B41FA5}">
                      <a16:colId xmlns:a16="http://schemas.microsoft.com/office/drawing/2014/main" val="1521230061"/>
                    </a:ext>
                  </a:extLst>
                </a:gridCol>
                <a:gridCol w="8013526">
                  <a:extLst>
                    <a:ext uri="{9D8B030D-6E8A-4147-A177-3AD203B41FA5}">
                      <a16:colId xmlns:a16="http://schemas.microsoft.com/office/drawing/2014/main" val="3948580016"/>
                    </a:ext>
                  </a:extLst>
                </a:gridCol>
              </a:tblGrid>
              <a:tr h="316680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In-Scope Item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766595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registration and book master data.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91269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Borrower/student/faculty account records.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110506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availability/status management.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2528180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issue and return transactions.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468271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Reservation queue using FIFO logic.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0081593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validation before issue.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89842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4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commit/rollback and basic concurrency protection.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078238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4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 trail for important issue, return and reservation actions.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007153"/>
                  </a:ext>
                </a:extLst>
              </a:tr>
              <a:tr h="609903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4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reports such as available books, issued books, overdue/active transactions and transaction history.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784472"/>
                  </a:ext>
                </a:extLst>
              </a:tr>
              <a:tr h="375325">
                <a:tc>
                  <a:txBody>
                    <a:bodyPr/>
                    <a:lstStyle/>
                    <a:p>
                      <a:pPr marL="0" marR="0" indent="0" algn="l" rtl="0" fontAlgn="base">
                        <a:spcAft>
                          <a:spcPts val="4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10 </a:t>
                      </a:r>
                      <a:endParaRPr lang="en-IN" sz="1800" b="0" i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indent="-228600" algn="l" rtl="0" fontAlgn="base"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access for borrower, librarian and administrator. </a:t>
                      </a:r>
                      <a:endParaRPr lang="en-IN" sz="1800" b="0" i="0" dirty="0">
                        <a:solidFill>
                          <a:srgbClr val="27313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075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665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E878-141B-AEEE-BB4A-C0898A8D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7036-C599-DEA9-E7DA-31B5CA3FB5D4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6C93-BA2F-C282-58DB-7B3198FEF1F3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B7ACE-1601-4A3E-F29C-BD5469C9F1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82EC9-868F-6C8A-9CD6-A1DC0B17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7BD2-4112-C836-FAD3-C66DC703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13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EED8A8F9-2A9D-6055-F038-000FBB776BA6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BF35CD-BCC1-D293-D592-ADA836B94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D8FF88-D27E-00F9-380A-BE6D86F6DF0C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1756D7-F338-C56C-976F-EBBFC971B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994" y="857864"/>
            <a:ext cx="4379081" cy="514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88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03E1-3D76-C15B-3A4F-2A02B11E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0F65-BF10-39CE-6E29-CF1FD646ADAC}"/>
              </a:ext>
            </a:extLst>
          </p:cNvPr>
          <p:cNvSpPr txBox="1">
            <a:spLocks/>
          </p:cNvSpPr>
          <p:nvPr/>
        </p:nvSpPr>
        <p:spPr>
          <a:xfrm>
            <a:off x="338496" y="189706"/>
            <a:ext cx="10515600" cy="9175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926B4-B81E-05C5-FEDD-14FED92FAE11}"/>
              </a:ext>
            </a:extLst>
          </p:cNvPr>
          <p:cNvSpPr txBox="1">
            <a:spLocks/>
          </p:cNvSpPr>
          <p:nvPr/>
        </p:nvSpPr>
        <p:spPr>
          <a:xfrm>
            <a:off x="503238" y="1220788"/>
            <a:ext cx="11158537" cy="5197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C7788-AA14-2FCB-2B32-65B83E3891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4CE04FAB-D1DE-42D8-9182-1F68B794E7A0}" type="datetime1">
              <a:rPr lang="en-IN"/>
              <a:pPr>
                <a:defRPr/>
              </a:pPr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E9E2-6BA7-B0B9-EF81-1204FABE6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70453-6E78-8CB2-2810-B57B2FBF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14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22069BAC-B6EE-A6DE-E87A-601C5701279E}"/>
              </a:ext>
            </a:extLst>
          </p:cNvPr>
          <p:cNvSpPr/>
          <p:nvPr/>
        </p:nvSpPr>
        <p:spPr bwMode="auto">
          <a:xfrm>
            <a:off x="85725" y="750888"/>
            <a:ext cx="11993563" cy="20637"/>
          </a:xfrm>
          <a:prstGeom prst="line">
            <a:avLst/>
          </a:prstGeom>
          <a:ln w="3240">
            <a:solidFill>
              <a:srgbClr val="E4948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992AB6-AF8B-E998-1647-F95A70A9B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E87D39-D31C-EE7E-30A8-41439AD46E50}"/>
              </a:ext>
            </a:extLst>
          </p:cNvPr>
          <p:cNvSpPr txBox="1"/>
          <p:nvPr/>
        </p:nvSpPr>
        <p:spPr>
          <a:xfrm>
            <a:off x="4100052" y="2821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49D102-80ED-2F61-DF16-C7A63739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124" y="1230439"/>
            <a:ext cx="7452850" cy="490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5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1126</Words>
  <Application>Microsoft Office PowerPoint</Application>
  <PresentationFormat>Widescreen</PresentationFormat>
  <Paragraphs>185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V Gurlahosur</dc:creator>
  <cp:lastModifiedBy>Shanvi B</cp:lastModifiedBy>
  <cp:revision>4</cp:revision>
  <dcterms:created xsi:type="dcterms:W3CDTF">2026-09-11T08:58:26Z</dcterms:created>
  <dcterms:modified xsi:type="dcterms:W3CDTF">2026-09-17T05:02:42Z</dcterms:modified>
</cp:coreProperties>
</file>